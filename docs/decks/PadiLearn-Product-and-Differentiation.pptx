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Teacher earns</c:v>
                </c:pt>
              </c:strCache>
            </c:strRef>
          </c:tx>
          <c:spPr>
            <a:solidFill>
              <a:srgbClr val="32936F"/>
            </a:solidFill>
            <a:ln w="38100" cap="flat">
              <a:solidFill>
                <a:srgbClr val="32936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D1B2A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2936F"/>
              </a:solidFill>
              <a:ln w="9525" cap="flat">
                <a:solidFill>
                  <a:srgbClr val="32936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₦2,300</c:v>
                  </c:pt>
                  <c:pt idx="1">
                    <c:v>₦2,400</c:v>
                  </c:pt>
                  <c:pt idx="2">
                    <c:v>₦2,499</c:v>
                  </c:pt>
                  <c:pt idx="3">
                    <c:v>₦2,500</c:v>
                  </c:pt>
                  <c:pt idx="4">
                    <c:v>₦2,600</c:v>
                  </c:pt>
                  <c:pt idx="5">
                    <c:v>₦2,700</c:v>
                  </c:pt>
                  <c:pt idx="6">
                    <c:v>₦2,800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1925</c:v>
                </c:pt>
                <c:pt idx="1">
                  <c:v>2009</c:v>
                </c:pt>
                <c:pt idx="2">
                  <c:v>2093</c:v>
                </c:pt>
                <c:pt idx="3">
                  <c:v>2008</c:v>
                </c:pt>
                <c:pt idx="4">
                  <c:v>2092</c:v>
                </c:pt>
                <c:pt idx="5">
                  <c:v>2175</c:v>
                </c:pt>
                <c:pt idx="6">
                  <c:v>2259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D1B2A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A727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50"/>
          <c:min val="1850"/>
        </c:scaling>
        <c:delete val="0"/>
        <c:axPos val="l"/>
        <c:majorGridlines>
          <c:spPr>
            <a:ln w="12700" cap="flat">
              <a:solidFill>
                <a:srgbClr val="E3E8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A72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 frame: this is not another Udemy clone. Every differentiator in this deck is a decision that only makes sense if you are building for this market specifically.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real competitor is not Udemy. It is a WhatsApp group and a bank transfer. Anything we build has to beat that on trust and discovery, because it will never beat it on fees.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slide short. The interesting material is what follows — the decisions that make this different rather than the feature list, which any competitor could copy.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differentiator to lead with in any teacher conversation. It is a real accounting decision, enforced server-side in the verify-payment function, and it is checkable.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 computed from lib/utils/pricing.dart against current Paystack local-card rates. The estimate mirrors the server-side split; the server remains authoritative.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Offline is not a feature bullet here, it is a market-access decision. The same argument applies to why lesson files are kept small.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payout verification detail matters more than it sounds: a mistyped account number that resolves to a real stranger's name is an unrecoverable loss in this market.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role question deliberately comes after identity, because no provider can supply it and asking it up front is friction before any value has been shown.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honest in the room that global platforms beat us on catalogue depth and brand. We are not competing on those.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Resist over-claiming here. Everything on this list is implemented; the honest gaps belong on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Including this slide is a choice. It buys credibility for every claim on the other slides, and everything on it is discoverable anyway.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MAN\Desktop\Github projects\padi_learn\assets\branding\icon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371600"/>
            <a:ext cx="1143000" cy="1143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2743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29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MARKETPLACE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3127248"/>
            <a:ext cx="10058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PadiLearn</a:t>
            </a:r>
            <a:endParaRPr lang="en-US" sz="54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4315968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B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learning marketplace built around how Nigeria actually buys,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B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 and learns — not a global platform with naira bolted on.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59893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and differentiation overview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another learning platform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70432"/>
            <a:ext cx="10881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frictions that global platforms do not feel, and local sellers work around badly.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420624" cy="420624"/>
          </a:xfrm>
          <a:prstGeom prst="ellipse">
            <a:avLst/>
          </a:prstGeom>
          <a:solidFill>
            <a:srgbClr val="32936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783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61872" y="1746504"/>
            <a:ext cx="2670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points don't fit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61872" y="2057400"/>
            <a:ext cx="2670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catalogues price in dollars. A ₦2,500 course is below the floor most platforms are built to handle — and that is the price the market actually bears.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43400" y="1783080"/>
            <a:ext cx="420624" cy="420624"/>
          </a:xfrm>
          <a:prstGeom prst="ellipse">
            <a:avLst/>
          </a:prstGeom>
          <a:solidFill>
            <a:srgbClr val="32936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343400" y="1783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965192" y="1746504"/>
            <a:ext cx="2670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rails don't reach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965192" y="2057400"/>
            <a:ext cx="2670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Card-first checkout and foreign payout rails exclude most Nigerian teachers. Getting paid is harder than getting students.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46720" y="1783080"/>
            <a:ext cx="420624" cy="420624"/>
          </a:xfrm>
          <a:prstGeom prst="ellipse">
            <a:avLst/>
          </a:prstGeom>
          <a:solidFill>
            <a:srgbClr val="32936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046720" y="1783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668512" y="1746504"/>
            <a:ext cx="2852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expensive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668512" y="2057400"/>
            <a:ext cx="28529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a course twice costs more than the course. Anything that assumes cheap, constant bandwidth quietly excludes the buyer.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3657600"/>
            <a:ext cx="10881360" cy="1920240"/>
          </a:xfrm>
          <a:prstGeom prst="roundRect">
            <a:avLst>
              <a:gd name="adj" fmla="val 4762"/>
            </a:avLst>
          </a:prstGeom>
          <a:solidFill>
            <a:srgbClr val="E6F2ED"/>
          </a:solidFill>
          <a:ln/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1005840" y="3931920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36B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teachers sell courses over WhatsApp instead.</a:t>
            </a:r>
            <a:endParaRPr lang="en-US" sz="21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4434840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works — no fees, instant payment, a channel buyers already trust. What it cannot do is discovery, structured progress, refunds, or proof that a teacher is any good. That is the gap.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PadiLearn is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70432"/>
            <a:ext cx="10881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two-sided marketplace. Anyone can learn; anyone can teach and be paid.</a:t>
            </a:r>
            <a:endParaRPr lang="en-US" sz="1500" dirty="0"/>
          </a:p>
        </p:txBody>
      </p:sp>
      <p:pic>
        <p:nvPicPr>
          <p:cNvPr id="4" name="Image 0" descr="C:\Users\USMAN\Desktop\Github projects\padi_learn\video\out\deck\phone-marketpla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463040"/>
            <a:ext cx="2286000" cy="450799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931920" y="1691640"/>
            <a:ext cx="420624" cy="420624"/>
          </a:xfrm>
          <a:prstGeom prst="ellipse">
            <a:avLst/>
          </a:prstGeom>
          <a:solidFill>
            <a:srgbClr val="32936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3931920" y="1691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4553712" y="1655064"/>
            <a:ext cx="6967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Learners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553712" y="1965960"/>
            <a:ext cx="6967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a categorised catalogue, pay in naira, and keep their place across sessions and devices.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931920" y="3108960"/>
            <a:ext cx="420624" cy="420624"/>
          </a:xfrm>
          <a:prstGeom prst="ellipse">
            <a:avLst/>
          </a:prstGeom>
          <a:solidFill>
            <a:srgbClr val="32936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931920" y="31089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4553712" y="3072384"/>
            <a:ext cx="6967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Teachers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553712" y="3383280"/>
            <a:ext cx="6967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a course, upload lessons, set a price, and receive money into a Nigerian bank account.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931920" y="4526280"/>
            <a:ext cx="420624" cy="420624"/>
          </a:xfrm>
          <a:prstGeom prst="ellipse">
            <a:avLst/>
          </a:prstGeom>
          <a:solidFill>
            <a:srgbClr val="32936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931920" y="45262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4553712" y="4489704"/>
            <a:ext cx="6967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4553712" y="4800600"/>
            <a:ext cx="6967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a commission only when a sale settles. No listing fee, no subscription, no upfront cost to teach.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take our cut of what arrives, not what was charged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43000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B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every marketplace takes its percentage on the gross price. On low-value courses, where a flat processing fee dominates, that quietly overcharges the seller.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4937760" cy="3063240"/>
          </a:xfrm>
          <a:prstGeom prst="roundRect">
            <a:avLst>
              <a:gd name="adj" fmla="val 2985"/>
            </a:avLst>
          </a:prstGeom>
          <a:solidFill>
            <a:srgbClr val="1629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21031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64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on gross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2542032"/>
            <a:ext cx="4343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price   ₦2,500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fee   −₦138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15% of ₦2,500   −₦375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receives   ₦1,987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0" y="1920240"/>
            <a:ext cx="4937760" cy="3063240"/>
          </a:xfrm>
          <a:prstGeom prst="roundRect">
            <a:avLst>
              <a:gd name="adj" fmla="val 2985"/>
            </a:avLst>
          </a:prstGeom>
          <a:solidFill>
            <a:srgbClr val="16293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20840" y="21031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29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on net  (ours)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720840" y="2542032"/>
            <a:ext cx="4343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price   ₦2,500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fee   −₦138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15% of ₦2,362   −₦354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receives   ₦2,008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52578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B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widens as prices fall. On a ₦1,000 course, gross-basis commission costs the teacher roughly a fifth of their margin — which is exactly the price band this market lives in.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Teachers can't price themselves into a loss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70432"/>
            <a:ext cx="10881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Nigerian card processing waives its flat fee below ₦2,500. Cross that line and earnings fall off a cliff.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783080"/>
          <a:ext cx="67665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680960" y="1783080"/>
            <a:ext cx="3840480" cy="1920240"/>
          </a:xfrm>
          <a:prstGeom prst="roundRect">
            <a:avLst>
              <a:gd name="adj" fmla="val 4762"/>
            </a:avLst>
          </a:prstGeom>
          <a:solidFill>
            <a:srgbClr val="E6F2ED"/>
          </a:solidFill>
          <a:ln/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955280" y="2011680"/>
            <a:ext cx="3337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it at ₦2,499 and the teacher earns ₦2,093.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it at ₦2,600 — ₦101 more — and they earn ₦2,092.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7680960" y="3931920"/>
            <a:ext cx="38404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other course platform does this.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course form calculates the split live and warns when a price lands in the dead zone, suggesting the better one. It costs us commission to tell them — which is the point.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the network people actually have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70432"/>
            <a:ext cx="10881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 about bandwidth are assumptions about who gets to use the product.</a:t>
            </a:r>
            <a:endParaRPr lang="en-US" sz="1500" dirty="0"/>
          </a:p>
        </p:txBody>
      </p:sp>
      <p:pic>
        <p:nvPicPr>
          <p:cNvPr id="4" name="Image 0" descr="C:\Users\USMAN\Desktop\Github projects\padi_learn\video\out\deck\phone-les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1417320"/>
            <a:ext cx="2331720" cy="459943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783080"/>
            <a:ext cx="420624" cy="420624"/>
          </a:xfrm>
          <a:prstGeom prst="ellipse">
            <a:avLst/>
          </a:prstGeom>
          <a:solidFill>
            <a:srgbClr val="32936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1783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1261872" y="1746504"/>
            <a:ext cx="7150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Courses cached on device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261872" y="2057400"/>
            <a:ext cx="7150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learner's course list is stored locally, so a cold start with no signal opens to their courses rather than a spinner or an error.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0080" y="3154680"/>
            <a:ext cx="420624" cy="420624"/>
          </a:xfrm>
          <a:prstGeom prst="ellipse">
            <a:avLst/>
          </a:prstGeom>
          <a:solidFill>
            <a:srgbClr val="32936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080" y="3154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1261872" y="3118104"/>
            <a:ext cx="7150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to the second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261872" y="3429000"/>
            <a:ext cx="7150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Playback position is written back while watching and restored on return — across sessions, and across devices.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40080" y="4526280"/>
            <a:ext cx="420624" cy="420624"/>
          </a:xfrm>
          <a:prstGeom prst="ellipse">
            <a:avLst/>
          </a:prstGeom>
          <a:solidFill>
            <a:srgbClr val="32936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0080" y="45262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1261872" y="4489704"/>
            <a:ext cx="7150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computed server-side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261872" y="4800600"/>
            <a:ext cx="7150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Completion is derived from lesson records by a database trigger, so it cannot drift between what the app shows and what the platform believes.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Money that arrives, and can be trusted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70432"/>
            <a:ext cx="10881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and payouts are the part a marketplace cannot afford to get almost right.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420624" cy="420624"/>
          </a:xfrm>
          <a:prstGeom prst="ellipse">
            <a:avLst/>
          </a:prstGeom>
          <a:solidFill>
            <a:srgbClr val="32936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783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61872" y="1746504"/>
            <a:ext cx="4498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rails, not cards alone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61872" y="2057400"/>
            <a:ext cx="44988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Paystack checkout — cards, bank transfer, USSD — in naira, through a processor Nigerian buyers already recognise.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17920" y="1783080"/>
            <a:ext cx="420624" cy="420624"/>
          </a:xfrm>
          <a:prstGeom prst="ellipse">
            <a:avLst/>
          </a:prstGeom>
          <a:solidFill>
            <a:srgbClr val="32936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17920" y="1783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839712" y="1746504"/>
            <a:ext cx="4498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Payout names come from the bank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839712" y="2057400"/>
            <a:ext cx="44988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teacher enters their 10-digit NUBAN; the account name is resolved through the bank and never typed. Nigerian transfers are irreversible, so the name has to be verified, not asserted.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931920"/>
            <a:ext cx="420624" cy="420624"/>
          </a:xfrm>
          <a:prstGeom prst="ellipse">
            <a:avLst/>
          </a:prstGeom>
          <a:solidFill>
            <a:srgbClr val="32936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931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61872" y="3895344"/>
            <a:ext cx="4498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 is server-authoritative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261872" y="4206240"/>
            <a:ext cx="44988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is granted by an edge function after the payment is verified with the processor — never by the app saying the payment succeeded.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17920" y="3931920"/>
            <a:ext cx="420624" cy="420624"/>
          </a:xfrm>
          <a:prstGeom prst="ellipse">
            <a:avLst/>
          </a:prstGeom>
          <a:solidFill>
            <a:srgbClr val="32936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0" y="3931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839712" y="3895344"/>
            <a:ext cx="4498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sale reconstructable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839712" y="4206240"/>
            <a:ext cx="44988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transaction stores the processing fee, the platform fee and the teacher's earning separately, and the three always sum to the amount paid.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more things teachers and learners notice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5303520" cy="4114800"/>
          </a:xfrm>
          <a:prstGeom prst="roundRect">
            <a:avLst>
              <a:gd name="adj" fmla="val 2222"/>
            </a:avLst>
          </a:prstGeom>
          <a:solidFill>
            <a:srgbClr val="F7F9F8"/>
          </a:solidFill>
          <a:ln/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05840" y="1737360"/>
            <a:ext cx="502920" cy="502920"/>
          </a:xfrm>
          <a:prstGeom prst="ellipse">
            <a:avLst/>
          </a:prstGeom>
          <a:solidFill>
            <a:srgbClr val="32936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1801368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video is not public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468880"/>
            <a:ext cx="4663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files live in a private bucket. The app never holds a permanent link — it asks the server for a short-lived signed URL each time, and only for a lesson the viewer is entitled to.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teacher deciding whether to put their livelihood on a platform, this is the question they ask first.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417320"/>
            <a:ext cx="5303520" cy="4114800"/>
          </a:xfrm>
          <a:prstGeom prst="roundRect">
            <a:avLst>
              <a:gd name="adj" fmla="val 2222"/>
            </a:avLst>
          </a:prstGeom>
          <a:solidFill>
            <a:srgbClr val="F7F9F8"/>
          </a:solidFill>
          <a:ln/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83680" y="1737360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269480" y="1801368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Signing up asks almost nothing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468880"/>
            <a:ext cx="4663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and Apple sign-in, then one question: are you here to learn or to teach? Asked after the account exists, not before — so the form is a tap, not five fields and a decision.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role is claimed once, server-side, and cannot be self-escalated afterwards.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this sits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70432"/>
            <a:ext cx="10881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the two things a Nigerian teacher is actually choosing between.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194560"/>
                <a:gridCol w="2194560"/>
                <a:gridCol w="246888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platforms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Selling over WhatsApp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PadiLearn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936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Priced for ₦1,000–₦5,000 courses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36B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Commission taken on net, not gross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36B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Payout to a Nigerian bank account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36B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name-verified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 on a poor connection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36B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Cached offline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Discovery beyond your own contacts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36B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progress and completion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36B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 protected from resharing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36B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Signed URLs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built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70432"/>
            <a:ext cx="10881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stack, deliberately — one mobile codebase and a managed backend.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420624" cy="420624"/>
          </a:xfrm>
          <a:prstGeom prst="ellipse">
            <a:avLst/>
          </a:prstGeom>
          <a:solidFill>
            <a:srgbClr val="32936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783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61872" y="1746504"/>
            <a:ext cx="4590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61872" y="2057400"/>
            <a:ext cx="45902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codebase, Android and iOS.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3108960"/>
            <a:ext cx="420624" cy="420624"/>
          </a:xfrm>
          <a:prstGeom prst="ellipse">
            <a:avLst/>
          </a:prstGeom>
          <a:solidFill>
            <a:srgbClr val="32936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1089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61872" y="3072384"/>
            <a:ext cx="4590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61872" y="3383280"/>
            <a:ext cx="45902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Auth, Postgres, storage and edge functions. Row-level security enforces who may read and write what.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4434840"/>
            <a:ext cx="420624" cy="420624"/>
          </a:xfrm>
          <a:prstGeom prst="ellipse">
            <a:avLst/>
          </a:prstGeom>
          <a:solidFill>
            <a:srgbClr val="32936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4434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61872" y="4398264"/>
            <a:ext cx="4590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Paystack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261872" y="4709160"/>
            <a:ext cx="45902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 and payouts, driven from server-side functions so the client can never mark itself as paid.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1783080"/>
            <a:ext cx="5212080" cy="3931920"/>
          </a:xfrm>
          <a:prstGeom prst="roundRect">
            <a:avLst>
              <a:gd name="adj" fmla="val 2326"/>
            </a:avLst>
          </a:prstGeom>
          <a:solidFill>
            <a:srgbClr val="E6F2ED"/>
          </a:solidFill>
          <a:ln/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675120" y="20574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today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675120" y="2514600"/>
            <a:ext cx="44805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Catalogue, search and categories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enrolment end to end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playback with resume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tracked and recomputed server-side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publishing and lesson upload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Payout account capture, bank-verified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comments and teacher notifications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course list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not done yet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70432"/>
            <a:ext cx="10881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 saying out loud before someone finds it.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420624" cy="42062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783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61872" y="1746504"/>
            <a:ext cx="4498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Pre-launch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61872" y="2057400"/>
            <a:ext cx="44988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 users and no revenue. The catalogue currently on the app is seeded demo content, and its instructor names and ratings are placeholders.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17920" y="1783080"/>
            <a:ext cx="420624" cy="42062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17920" y="1783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839712" y="1746504"/>
            <a:ext cx="4498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tested, not proven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839712" y="2057400"/>
            <a:ext cx="44988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paid flow works against the processor's test mode. It has not run at volume, and refunds and disputes are not built.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931920"/>
            <a:ext cx="420624" cy="42062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931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61872" y="3895344"/>
            <a:ext cx="4498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has been through a security review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261872" y="4206240"/>
            <a:ext cx="44988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rules are written and enforced at the database, but no external audit has been done.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17920" y="3931920"/>
            <a:ext cx="420624" cy="42062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0" y="3931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839712" y="3895344"/>
            <a:ext cx="4498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content moderation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839712" y="4206240"/>
            <a:ext cx="44988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A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review step between a teacher publishing and a course appearing.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32936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MAN\Desktop\Github projects\padi_learn\assets\branding\icon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160020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14400" y="3200400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CFE7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bet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370332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marketplace wins here by being cheaper to sell on</a:t>
            </a:r>
            <a:endParaRPr lang="en-US" sz="27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easier to get paid from — not by having more courses.</a:t>
            </a:r>
            <a:endParaRPr lang="en-US" sz="27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576072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E7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padilearn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PadiLearn — Product &amp; Differentiation</dc:title>
  <dc:subject>PptxGenJS Presentation</dc:subject>
  <dc:creator>PadiLearn</dc:creator>
  <cp:lastModifiedBy>PadiLearn</cp:lastModifiedBy>
  <cp:revision>1</cp:revision>
  <dcterms:created xsi:type="dcterms:W3CDTF">2026-09-01T19:27:06Z</dcterms:created>
  <dcterms:modified xsi:type="dcterms:W3CDTF">2026-09-01T19:27:06Z</dcterms:modified>
</cp:coreProperties>
</file>